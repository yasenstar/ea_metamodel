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15"/>
  </p:notesMasterIdLst>
  <p:handoutMasterIdLst>
    <p:handoutMasterId r:id="rId16"/>
  </p:handoutMasterIdLst>
  <p:sldIdLst>
    <p:sldId id="256" r:id="rId5"/>
    <p:sldId id="270" r:id="rId6"/>
    <p:sldId id="273" r:id="rId7"/>
    <p:sldId id="274" r:id="rId8"/>
    <p:sldId id="271" r:id="rId9"/>
    <p:sldId id="272" r:id="rId10"/>
    <p:sldId id="275" r:id="rId11"/>
    <p:sldId id="276" r:id="rId12"/>
    <p:sldId id="277" r:id="rId13"/>
    <p:sldId id="267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24" autoAdjust="0"/>
    <p:restoredTop sz="94641" autoAdjust="0"/>
  </p:normalViewPr>
  <p:slideViewPr>
    <p:cSldViewPr snapToGrid="0">
      <p:cViewPr varScale="1">
        <p:scale>
          <a:sx n="93" d="100"/>
          <a:sy n="93" d="100"/>
        </p:scale>
        <p:origin x="900" y="30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29666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89952ED-BE7B-104F-320E-6EEF21592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D7EA4B0-AF51-48C0-759F-856ED00F6A4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1CCDF70-DC45-44E1-D644-134EE41806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9B35F26-01CA-66E4-2632-E34E79D9B46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42F0297-D013-6C14-E9A5-B10F9BA198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FF0769-0A6B-2BE0-2B44-37EC146583F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CD96C0B-0C44-D93F-ADC5-24D2EA155A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721AEE-200B-53C1-EA9B-335DCDDA2E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CD963E2-6AF5-388B-BB85-29C1467F6B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7BBD940-3F8A-E15B-201A-693884A247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F1E0F3E-FA9E-302F-3521-A9482EEC6B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EA7A36-DB49-F034-0D2B-B99B57E4C8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9F20AA9-43F0-09A4-23E6-E8DC988ED7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D343B25-C4FD-0656-3F40-DA010D99E4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6F9F672-9EAB-0049-C35D-2069EEEDDA4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637B27C-DA22-75FF-154B-52F1F848F8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1D404BD-5B8C-E289-6E49-7BD1564A597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6.jpeg"/><Relationship Id="rId4" Type="http://schemas.openxmlformats.org/officeDocument/2006/relationships/image" Target="../media/image7.jpeg"/><Relationship Id="rId9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jpeg"/><Relationship Id="rId4" Type="http://schemas.openxmlformats.org/officeDocument/2006/relationships/image" Target="../media/image2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66237" y="327399"/>
            <a:ext cx="9054612" cy="3329581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Master EAS Meta-Model in Ontology &amp; Graph Perspective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12154" y="3538424"/>
            <a:ext cx="8825658" cy="861420"/>
          </a:xfrm>
        </p:spPr>
        <p:txBody>
          <a:bodyPr anchor="ctr">
            <a:normAutofit/>
          </a:bodyPr>
          <a:lstStyle/>
          <a:p>
            <a:r>
              <a:rPr lang="en-US" dirty="0"/>
              <a:t>Building Up Enterprise Architecture Meta-Model From Scratch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96C580F-38C1-FF79-76EE-387C2193E73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50695D8-97CE-5B8C-815E-9CD5D506DD72}"/>
              </a:ext>
            </a:extLst>
          </p:cNvPr>
          <p:cNvGrpSpPr/>
          <p:nvPr/>
        </p:nvGrpSpPr>
        <p:grpSpPr>
          <a:xfrm>
            <a:off x="1636272" y="4323296"/>
            <a:ext cx="9030493" cy="2226761"/>
            <a:chOff x="1636272" y="4323296"/>
            <a:chExt cx="9030493" cy="2226761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B7A3EDAE-1B0E-C1CF-8C16-C6F54D1C5488}"/>
                </a:ext>
              </a:extLst>
            </p:cNvPr>
            <p:cNvGrpSpPr/>
            <p:nvPr/>
          </p:nvGrpSpPr>
          <p:grpSpPr>
            <a:xfrm>
              <a:off x="2141549" y="4323296"/>
              <a:ext cx="7766868" cy="2226761"/>
              <a:chOff x="1463863" y="4391350"/>
              <a:chExt cx="7766868" cy="2226761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7AE0F899-9B30-1477-EF90-A3BFF355E9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949627" y="4399844"/>
                <a:ext cx="1900932" cy="221826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DF92B555-999F-2F3B-6A00-4426832C8B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387188" y="4391350"/>
                <a:ext cx="2339123" cy="220152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sp>
            <p:nvSpPr>
              <p:cNvPr id="8" name="Arrow: Right 7">
                <a:extLst>
                  <a:ext uri="{FF2B5EF4-FFF2-40B4-BE49-F238E27FC236}">
                    <a16:creationId xmlns:a16="http://schemas.microsoft.com/office/drawing/2014/main" id="{18612BDC-FCFA-4143-D6C2-08664DA7F3EF}"/>
                  </a:ext>
                </a:extLst>
              </p:cNvPr>
              <p:cNvSpPr/>
              <p:nvPr/>
            </p:nvSpPr>
            <p:spPr>
              <a:xfrm>
                <a:off x="4570725" y="5031380"/>
                <a:ext cx="1207911" cy="767644"/>
              </a:xfrm>
              <a:prstGeom prst="rightArrow">
                <a:avLst/>
              </a:prstGeom>
            </p:spPr>
            <p:style>
              <a:lnRef idx="0">
                <a:schemeClr val="accent1"/>
              </a:lnRef>
              <a:fillRef idx="3">
                <a:schemeClr val="accent1"/>
              </a:fillRef>
              <a:effectRef idx="3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C796209F-D274-5DEB-45D9-C3402DD8B4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463863" y="4957083"/>
                <a:ext cx="360209" cy="401771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D6C7995A-87F7-91D6-C1F6-318F2C06C7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463863" y="5536012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967B15A3-E502-426B-3004-FC2BA59000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859620" y="4951896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6FF42F9F-AF6A-3226-86B2-248451228B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859620" y="5438299"/>
                <a:ext cx="371111" cy="460689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76B4B21-2091-A494-3901-B7DE776977CD}"/>
                </a:ext>
              </a:extLst>
            </p:cNvPr>
            <p:cNvSpPr txBox="1"/>
            <p:nvPr/>
          </p:nvSpPr>
          <p:spPr>
            <a:xfrm>
              <a:off x="1636272" y="5467958"/>
              <a:ext cx="5052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3.5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79F436E-B180-CC50-15DC-9E21FD4771FF}"/>
                </a:ext>
              </a:extLst>
            </p:cNvPr>
            <p:cNvSpPr txBox="1"/>
            <p:nvPr/>
          </p:nvSpPr>
          <p:spPr>
            <a:xfrm>
              <a:off x="9980965" y="4872699"/>
              <a:ext cx="6858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5.6+</a:t>
              </a: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ED6E28A9-476E-DD13-7581-373C3DC93FE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33311" y="2916"/>
            <a:ext cx="676656" cy="676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F3F22-8ED0-1925-F839-CE0A56088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What is Metamodel?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8F2FE4C-F570-9598-B96E-2D875C9893E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26C5F8E6-1898-6EF3-FA8C-DD760C08E3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6896" y="1692503"/>
            <a:ext cx="7221654" cy="432891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6502029-A09B-6808-2CC6-02B3F9FA62E4}"/>
              </a:ext>
            </a:extLst>
          </p:cNvPr>
          <p:cNvSpPr txBox="1"/>
          <p:nvPr/>
        </p:nvSpPr>
        <p:spPr>
          <a:xfrm>
            <a:off x="7743217" y="1696302"/>
            <a:ext cx="4221475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 metamodel is a model of a model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, and metamodeling is the process of generating such metamodels.</a:t>
            </a:r>
          </a:p>
          <a:p>
            <a:endParaRPr lang="en-US" sz="20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Metamodeling or meta-modeling is the analysis, construction, and development of the frames, rules, constraints, models, and theories applicable and useful for modeling a predefined class of problems.</a:t>
            </a:r>
          </a:p>
        </p:txBody>
      </p:sp>
    </p:spTree>
    <p:extLst>
      <p:ext uri="{BB962C8B-B14F-4D97-AF65-F5344CB8AC3E}">
        <p14:creationId xmlns:p14="http://schemas.microsoft.com/office/powerpoint/2010/main" val="1955623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AE5B6-80DF-D70A-F20B-FEA4ECBA7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C0FF8-4E49-6AF6-6543-8EC91803E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Understanding EAS Metamodel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EB0D3F-A404-6BB2-1E1D-5CC2474878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1224062"/>
            <a:ext cx="4748944" cy="53896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76D7B0F9-1CC8-9F3C-0657-1F59FC2CBC6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42C48B-BA5B-E812-69AC-BF70DDE30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D408417-9471-F069-8916-5C469353ED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06ABE23-80C9-5A69-3112-B7949CCA9FC3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495C7E-5242-C6A4-F1AF-6FDE81C768BB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1A6F2B2-B902-0850-51B9-E170D2F5AC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D01B92F-574A-7012-85A2-7F69847B32BF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B859B87-CA7F-1075-138D-47F35FAF96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59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48F35-04E4-5807-5C2A-620BEA0DA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A4448-02F1-CDC2-FAF7-969D8DE4B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Metamodel in Reference EA Frameworks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9AC4B2-6317-9F6B-9FC4-C1FFE15BE3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2302822"/>
            <a:ext cx="3798427" cy="431091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D9EDD144-F22C-74B4-5002-E4C6BD3EE51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7560E9C-5AF5-B579-B7B6-716B3573C1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41150DD-58EF-EB9E-4760-2BA4716363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3CC8133-DA27-4A38-9141-8E76F1778C14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EC4CBA-F1DD-285B-1721-6F45133ACA52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BABF5E1-3BD9-29A5-56A1-16CF02F704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A4AFB4A-3D9B-A840-0048-1C71FEB3B770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1B2A9F0-138A-DB81-909E-30C63931F6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9562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89ECA-496A-A03E-437E-F11325327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6176F-4D1D-C373-40D4-D16CAC76B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Essential Open Source EA Tool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75085BF-0762-04EF-08E2-21385F1A52C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C5AEE0F6-50BA-94EA-A24A-CD6240422C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3880" y="1995785"/>
            <a:ext cx="10277261" cy="381838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5F4B03C-08D5-67E5-1529-5C1342611C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00" y="5814174"/>
            <a:ext cx="872107" cy="9727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346757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8C238-12BA-88F3-D9C1-1C208A94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3B5CE-5419-35B0-16E8-861451475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Protégé &amp; Neo4j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EEB3645-A16E-C6E6-5926-96E8BF14E00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13EAF2-EEC3-E490-C676-6BBD446B83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475" y="2022210"/>
            <a:ext cx="5416020" cy="33584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C1ABD6E-E7D8-6644-DD8B-EE481D752B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6475" y="2025026"/>
            <a:ext cx="5709961" cy="33556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959201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848FE-1D84-B5AB-9432-B35C9850E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4A4F0-6F9B-8A16-B1C4-03D99B083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- 01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100DAF3-36E5-3DA4-0012-D67C1896877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8F42FD-5A89-140B-6C50-A2C200F8D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1816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9DA41FD-0157-49C4-D9F4-1DD0289BBB08}"/>
              </a:ext>
            </a:extLst>
          </p:cNvPr>
          <p:cNvSpPr/>
          <p:nvPr/>
        </p:nvSpPr>
        <p:spPr>
          <a:xfrm>
            <a:off x="2301411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530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94AB3-81D7-77CA-B199-4BCA514F5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52FC1-9AB6-8A92-0B2F-87613FD1E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- 02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2035176-1130-3F0C-E45A-EEBAFA2FF24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5DC183-913D-E016-906D-E7E7978E5F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1816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CABA8A8-4318-7C44-38E2-85E5EA4F8BFD}"/>
              </a:ext>
            </a:extLst>
          </p:cNvPr>
          <p:cNvSpPr/>
          <p:nvPr/>
        </p:nvSpPr>
        <p:spPr>
          <a:xfrm>
            <a:off x="2301411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36068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15740-8931-9432-5022-9B33126AF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D5AE0-97B2-F5A1-20E0-90D7AF83AA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- 03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1259266-9EFF-EE1C-8089-9467C74B9C7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4B322A-9342-D809-4B0E-2F3FDB884E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1816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030BCA1-1E2D-0A36-1368-DC023E3A69D5}"/>
              </a:ext>
            </a:extLst>
          </p:cNvPr>
          <p:cNvSpPr/>
          <p:nvPr/>
        </p:nvSpPr>
        <p:spPr>
          <a:xfrm>
            <a:off x="2301411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65983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bstract design">
            <a:extLst>
              <a:ext uri="{FF2B5EF4-FFF2-40B4-BE49-F238E27FC236}">
                <a16:creationId xmlns:a16="http://schemas.microsoft.com/office/drawing/2014/main" id="{6D363037-1741-4470-A023-883E2FFD584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18308" r="6818" b="2872"/>
          <a:stretch/>
        </p:blipFill>
        <p:spPr>
          <a:xfrm flipH="1">
            <a:off x="20" y="10"/>
            <a:ext cx="12191980" cy="6857990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970C361B-D32E-42E0-A41E-86C3D9AC88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>
            <a:normAutofit/>
          </a:bodyPr>
          <a:lstStyle/>
          <a:p>
            <a:r>
              <a:rPr lang="en-US" dirty="0"/>
              <a:t>Thank You!</a:t>
            </a:r>
            <a:endParaRPr lang="ru-RU" dirty="0"/>
          </a:p>
        </p:txBody>
      </p:sp>
      <p:sp>
        <p:nvSpPr>
          <p:cNvPr id="13" name="Subtitle 12">
            <a:extLst>
              <a:ext uri="{FF2B5EF4-FFF2-40B4-BE49-F238E27FC236}">
                <a16:creationId xmlns:a16="http://schemas.microsoft.com/office/drawing/2014/main" id="{336E726C-3DE4-41AA-88A0-C92B0C3416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>
            <a:normAutofit/>
          </a:bodyPr>
          <a:lstStyle/>
          <a:p>
            <a:r>
              <a:rPr lang="en-US" dirty="0"/>
              <a:t>someone@Example.com</a:t>
            </a:r>
            <a:endParaRPr lang="ru-RU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11F562-7C5B-B39E-2FF0-681E86D50F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76798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Metadata/LabelInfo.xml><?xml version="1.0" encoding="utf-8"?>
<clbl:labelList xmlns:clbl="http://schemas.microsoft.com/office/2020/mipLabelMetadata">
  <clbl:label id="{19540963-e559-4020-8a90-fe8a502c2801}" enabled="1" method="Standard" siteId="{f25493ae-1c98-41d7-8a33-0be75f5fe60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2232</TotalTime>
  <Words>189</Words>
  <Application>Microsoft Office PowerPoint</Application>
  <PresentationFormat>Widescreen</PresentationFormat>
  <Paragraphs>34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Calibri</vt:lpstr>
      <vt:lpstr>Century Gothic</vt:lpstr>
      <vt:lpstr>Wingdings 3</vt:lpstr>
      <vt:lpstr>Ion</vt:lpstr>
      <vt:lpstr>Master EAS Meta-Model in Ontology &amp; Graph Perspective</vt:lpstr>
      <vt:lpstr>What is Metamodel?</vt:lpstr>
      <vt:lpstr>Understanding EAS Metamodel</vt:lpstr>
      <vt:lpstr>Metamodel in Reference EA Frameworks</vt:lpstr>
      <vt:lpstr>Setup Modeling Environment - Essential Open Source EA Tool</vt:lpstr>
      <vt:lpstr>Setup Modeling Environment - Protégé &amp; Neo4j</vt:lpstr>
      <vt:lpstr>Essential EA Meta-Model - Business Conceptual - 01 </vt:lpstr>
      <vt:lpstr>Essential EA Meta-Model - Business Conceptual - 02 </vt:lpstr>
      <vt:lpstr>Essential EA Meta-Model - Business Conceptual - 03 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10</cp:revision>
  <dcterms:created xsi:type="dcterms:W3CDTF">2026-03-17T00:40:27Z</dcterms:created>
  <dcterms:modified xsi:type="dcterms:W3CDTF">2026-03-21T08:45:02Z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
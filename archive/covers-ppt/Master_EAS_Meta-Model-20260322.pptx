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270" r:id="rId6"/>
    <p:sldId id="273" r:id="rId7"/>
    <p:sldId id="274" r:id="rId8"/>
    <p:sldId id="271" r:id="rId9"/>
    <p:sldId id="272" r:id="rId10"/>
    <p:sldId id="275" r:id="rId11"/>
    <p:sldId id="276" r:id="rId12"/>
    <p:sldId id="277" r:id="rId13"/>
    <p:sldId id="279" r:id="rId14"/>
    <p:sldId id="281" r:id="rId15"/>
    <p:sldId id="278" r:id="rId16"/>
    <p:sldId id="280" r:id="rId17"/>
    <p:sldId id="283" r:id="rId18"/>
    <p:sldId id="282" r:id="rId19"/>
    <p:sldId id="284" r:id="rId20"/>
    <p:sldId id="285" r:id="rId21"/>
    <p:sldId id="287" r:id="rId22"/>
    <p:sldId id="286" r:id="rId23"/>
    <p:sldId id="288" r:id="rId24"/>
    <p:sldId id="289" r:id="rId25"/>
    <p:sldId id="290" r:id="rId26"/>
    <p:sldId id="291" r:id="rId27"/>
    <p:sldId id="26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C133"/>
    <a:srgbClr val="ACD433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4" autoAdjust="0"/>
    <p:restoredTop sz="94641" autoAdjust="0"/>
  </p:normalViewPr>
  <p:slideViewPr>
    <p:cSldViewPr snapToGrid="0">
      <p:cViewPr varScale="1">
        <p:scale>
          <a:sx n="45" d="100"/>
          <a:sy n="45" d="100"/>
        </p:scale>
        <p:origin x="75" y="126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62"/>
    </p:cViewPr>
  </p:sorter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89952ED-BE7B-104F-320E-6EEF21592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39" y="385296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7EA4B0-AF51-48C0-759F-856ED00F6A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39" y="385296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CCDF70-DC45-44E1-D644-134EE4180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B35F26-01CA-66E4-2632-E34E79D9B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2F0297-D013-6C14-E9A5-B10F9BA198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FF0769-0A6B-2BE0-2B44-37EC146583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D96C0B-0C44-D93F-ADC5-24D2EA155A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721AEE-200B-53C1-EA9B-335DCDDA2E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D963E2-6AF5-388B-BB85-29C1467F6B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BBD940-3F8A-E15B-201A-693884A247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1E0F3E-FA9E-302F-3521-A9482EEC6B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EA7A36-DB49-F034-0D2B-B99B57E4C8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20AA9-43F0-09A4-23E6-E8DC988ED7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343B25-C4FD-0656-3F40-DA010D99E4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F9F672-9EAB-0049-C35D-2069EEEDDA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37B27C-DA22-75FF-154B-52F1F848F8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D404BD-5B8C-E289-6E49-7BD1564A59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6.jpe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6237" y="327399"/>
            <a:ext cx="9054612" cy="3329581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Master EAS Meta-Model in Ontology &amp; Graph Perspective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2154" y="3538424"/>
            <a:ext cx="8825658" cy="861420"/>
          </a:xfrm>
        </p:spPr>
        <p:txBody>
          <a:bodyPr anchor="ctr">
            <a:normAutofit/>
          </a:bodyPr>
          <a:lstStyle/>
          <a:p>
            <a:r>
              <a:rPr lang="en-US" dirty="0"/>
              <a:t>Building Up Enterprise Architecture Meta-Model From Scratch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96C580F-38C1-FF79-76EE-387C2193E73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50695D8-97CE-5B8C-815E-9CD5D506DD72}"/>
              </a:ext>
            </a:extLst>
          </p:cNvPr>
          <p:cNvGrpSpPr/>
          <p:nvPr/>
        </p:nvGrpSpPr>
        <p:grpSpPr>
          <a:xfrm>
            <a:off x="1636272" y="4323296"/>
            <a:ext cx="9030493" cy="2226761"/>
            <a:chOff x="1636272" y="4323296"/>
            <a:chExt cx="9030493" cy="222676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7A3EDAE-1B0E-C1CF-8C16-C6F54D1C5488}"/>
                </a:ext>
              </a:extLst>
            </p:cNvPr>
            <p:cNvGrpSpPr/>
            <p:nvPr/>
          </p:nvGrpSpPr>
          <p:grpSpPr>
            <a:xfrm>
              <a:off x="2141549" y="4323296"/>
              <a:ext cx="7766868" cy="2226761"/>
              <a:chOff x="1463863" y="4391350"/>
              <a:chExt cx="7766868" cy="222676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AE0F899-9B30-1477-EF90-A3BFF355E9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49627" y="4399844"/>
                <a:ext cx="1900932" cy="2218267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F92B555-999F-2F3B-6A00-4426832C8B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7188" y="4391350"/>
                <a:ext cx="2339123" cy="2201527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8" name="Arrow: Right 7">
                <a:extLst>
                  <a:ext uri="{FF2B5EF4-FFF2-40B4-BE49-F238E27FC236}">
                    <a16:creationId xmlns:a16="http://schemas.microsoft.com/office/drawing/2014/main" id="{18612BDC-FCFA-4143-D6C2-08664DA7F3EF}"/>
                  </a:ext>
                </a:extLst>
              </p:cNvPr>
              <p:cNvSpPr/>
              <p:nvPr/>
            </p:nvSpPr>
            <p:spPr>
              <a:xfrm>
                <a:off x="4570725" y="5031380"/>
                <a:ext cx="1207911" cy="767644"/>
              </a:xfrm>
              <a:prstGeom prst="rightArrow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796209F-D274-5DEB-45D9-C3402DD8B4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63863" y="4957083"/>
                <a:ext cx="360209" cy="40177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D6C7995A-87F7-91D6-C1F6-318F2C06C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63863" y="5536012"/>
                <a:ext cx="362976" cy="36297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67B15A3-E502-426B-3004-FC2BA5900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59620" y="4951896"/>
                <a:ext cx="362976" cy="36297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FF42F9F-AF6A-3226-86B2-248451228B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59620" y="5438299"/>
                <a:ext cx="371111" cy="460689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6B4B21-2091-A494-3901-B7DE776977CD}"/>
                </a:ext>
              </a:extLst>
            </p:cNvPr>
            <p:cNvSpPr txBox="1"/>
            <p:nvPr/>
          </p:nvSpPr>
          <p:spPr>
            <a:xfrm>
              <a:off x="1636272" y="5467958"/>
              <a:ext cx="5052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3.5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79F436E-B180-CC50-15DC-9E21FD4771FF}"/>
                </a:ext>
              </a:extLst>
            </p:cNvPr>
            <p:cNvSpPr txBox="1"/>
            <p:nvPr/>
          </p:nvSpPr>
          <p:spPr>
            <a:xfrm>
              <a:off x="9980965" y="4872699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5.6+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ED6E28A9-476E-DD13-7581-373C3DC93F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33311" y="2916"/>
            <a:ext cx="676656" cy="67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3F22-8ED0-1925-F839-CE0A5608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What is Metamodel?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F2FE4C-F570-9598-B96E-2D875C9893E2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26C5F8E6-1898-6EF3-FA8C-DD760C08E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896" y="1692503"/>
            <a:ext cx="7221654" cy="43289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6502029-A09B-6808-2CC6-02B3F9FA62E4}"/>
              </a:ext>
            </a:extLst>
          </p:cNvPr>
          <p:cNvSpPr txBox="1"/>
          <p:nvPr/>
        </p:nvSpPr>
        <p:spPr>
          <a:xfrm>
            <a:off x="7743217" y="1696302"/>
            <a:ext cx="4221475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metamodel is a model of a model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and metamodeling is the process of generating such metamodels.</a:t>
            </a:r>
          </a:p>
          <a:p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Metamodeling or meta-modeling is the analysis, construction, and development of the frames, rules, constraints, models, and theories applicable and useful for modeling a predefined class of problems.</a:t>
            </a:r>
          </a:p>
        </p:txBody>
      </p:sp>
    </p:spTree>
    <p:extLst>
      <p:ext uri="{BB962C8B-B14F-4D97-AF65-F5344CB8AC3E}">
        <p14:creationId xmlns:p14="http://schemas.microsoft.com/office/powerpoint/2010/main" val="195562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AE5B6-80DF-D70A-F20B-FEA4ECBA7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0FF8-4E49-6AF6-6543-8EC91803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Understanding EAS Metamodel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EB0D3F-A404-6BB2-1E1D-5CC247487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647" y="1224062"/>
            <a:ext cx="4748944" cy="53896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6D7B0F9-1CC8-9F3C-0657-1F59FC2CBC6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42C48B-BA5B-E812-69AC-BF70DDE30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36" y="3429000"/>
            <a:ext cx="1772040" cy="3987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408417-9471-F069-8916-5C469353E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779" y="1673987"/>
            <a:ext cx="1805255" cy="13539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6ABE23-80C9-5A69-3112-B7949CCA9FC3}"/>
              </a:ext>
            </a:extLst>
          </p:cNvPr>
          <p:cNvSpPr txBox="1"/>
          <p:nvPr/>
        </p:nvSpPr>
        <p:spPr>
          <a:xfrm>
            <a:off x="6503132" y="1298289"/>
            <a:ext cx="5246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MODAF: British Ministry of Defense Architecture 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495C7E-5242-C6A4-F1AF-6FDE81C768BB}"/>
              </a:ext>
            </a:extLst>
          </p:cNvPr>
          <p:cNvSpPr txBox="1"/>
          <p:nvPr/>
        </p:nvSpPr>
        <p:spPr>
          <a:xfrm>
            <a:off x="6503132" y="2998269"/>
            <a:ext cx="4374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FEAF: Federal Enterprise Architecture Framework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A6F2B2-B902-0850-51B9-E170D2F5A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778" y="3329406"/>
            <a:ext cx="1805255" cy="14573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01B92F-574A-7012-85A2-7F69847B32BF}"/>
              </a:ext>
            </a:extLst>
          </p:cNvPr>
          <p:cNvSpPr txBox="1"/>
          <p:nvPr/>
        </p:nvSpPr>
        <p:spPr>
          <a:xfrm>
            <a:off x="6503132" y="4787312"/>
            <a:ext cx="4464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TOGAF: The Open Group Architecture Framework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859B87-CA7F-1075-138D-47F35FAF96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778" y="5119027"/>
            <a:ext cx="1805255" cy="142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96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48F35-04E4-5807-5C2A-620BEA0D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A4448-02F1-CDC2-FAF7-969D8DE4B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Metamodel in Reference EA Frameworks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9AC4B2-6317-9F6B-9FC4-C1FFE15BE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647" y="2302822"/>
            <a:ext cx="3798427" cy="43109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9EDD144-F22C-74B4-5002-E4C6BD3EE51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560E9C-5AF5-B579-B7B6-716B3573C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36" y="3429000"/>
            <a:ext cx="1772040" cy="3987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1150DD-58EF-EB9E-4760-2BA471636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779" y="1673987"/>
            <a:ext cx="1805255" cy="13539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CC8133-DA27-4A38-9141-8E76F1778C14}"/>
              </a:ext>
            </a:extLst>
          </p:cNvPr>
          <p:cNvSpPr txBox="1"/>
          <p:nvPr/>
        </p:nvSpPr>
        <p:spPr>
          <a:xfrm>
            <a:off x="6503132" y="1298289"/>
            <a:ext cx="5246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MODAF: British Ministry of Defense Architecture 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EC4CBA-F1DD-285B-1721-6F45133ACA52}"/>
              </a:ext>
            </a:extLst>
          </p:cNvPr>
          <p:cNvSpPr txBox="1"/>
          <p:nvPr/>
        </p:nvSpPr>
        <p:spPr>
          <a:xfrm>
            <a:off x="6503132" y="2998269"/>
            <a:ext cx="4374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FEAF: Federal Enterprise Architecture Framework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ABF5E1-3BD9-29A5-56A1-16CF02F704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778" y="3329406"/>
            <a:ext cx="1805255" cy="14573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4AFB4A-3D9B-A840-0048-1C71FEB3B770}"/>
              </a:ext>
            </a:extLst>
          </p:cNvPr>
          <p:cNvSpPr txBox="1"/>
          <p:nvPr/>
        </p:nvSpPr>
        <p:spPr>
          <a:xfrm>
            <a:off x="6503132" y="4787312"/>
            <a:ext cx="4464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TOGAF: The Open Group Architecture Framework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B2A9F0-138A-DB81-909E-30C63931F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778" y="5119027"/>
            <a:ext cx="1805255" cy="142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62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89ECA-496A-A03E-437E-F11325327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176F-4D1D-C373-40D4-D16CAC76B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Setup Modeling Environment</a:t>
            </a:r>
            <a:br>
              <a:rPr lang="en-US" b="1" dirty="0"/>
            </a:br>
            <a:r>
              <a:rPr lang="en-US" b="1" dirty="0"/>
              <a:t>- </a:t>
            </a:r>
            <a:r>
              <a:rPr lang="en-US" altLang="zh-CN" b="1" dirty="0"/>
              <a:t>Essential Open Source EA Tool</a:t>
            </a:r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5085BF-0762-04EF-08E2-21385F1A52C9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5AEE0F6-50BA-94EA-A24A-CD6240422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880" y="1995785"/>
            <a:ext cx="10277261" cy="38183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F4B03C-08D5-67E5-1529-5C1342611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0" y="5814174"/>
            <a:ext cx="872107" cy="9727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4675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8C238-12BA-88F3-D9C1-1C208A941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3B5CE-5419-35B0-16E8-86145147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Setup Modeling Environment</a:t>
            </a:r>
            <a:br>
              <a:rPr lang="en-US" b="1" dirty="0"/>
            </a:br>
            <a:r>
              <a:rPr lang="en-US" b="1" dirty="0"/>
              <a:t>- </a:t>
            </a:r>
            <a:r>
              <a:rPr lang="en-US" altLang="zh-CN" b="1" dirty="0"/>
              <a:t>Protégé &amp; Neo4j</a:t>
            </a:r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EB3645-A16E-C6E6-5926-96E8BF14E00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13EAF2-EEC3-E490-C676-6BBD446B8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75" y="2022210"/>
            <a:ext cx="5416020" cy="33584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1ABD6E-E7D8-6644-DD8B-EE481D752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475" y="2025026"/>
            <a:ext cx="5709961" cy="33556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5920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848FE-1D84-B5AB-9432-B35C9850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A4F0-6F9B-8A16-B1C4-03D99B083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Conceptual - 01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00DAF3-36E5-3DA4-0012-D67C18968779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8F42FD-5A89-140B-6C50-A2C200F8D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0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DA41FD-0157-49C4-D9F4-1DD0289BBB08}"/>
              </a:ext>
            </a:extLst>
          </p:cNvPr>
          <p:cNvSpPr/>
          <p:nvPr/>
        </p:nvSpPr>
        <p:spPr>
          <a:xfrm>
            <a:off x="516595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7E3673-4348-0701-8D66-FB5EB7BAA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BDB4F7-AD96-E5FF-FB74-1EF32F3CF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18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45F975-2715-FFCB-B237-6BB44514F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025" y="3799818"/>
            <a:ext cx="3524250" cy="7766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3653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94AB3-81D7-77CA-B199-4BCA514F5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52FC1-9AB6-8A92-0B2F-87613FD1E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Conceptual - 02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035176-1130-3F0C-E45A-EEBAFA2FF24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008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DC183-913D-E016-906D-E7E7978E5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57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ABA8A8-4318-7C44-38E2-85E5EA4F8BFD}"/>
              </a:ext>
            </a:extLst>
          </p:cNvPr>
          <p:cNvSpPr/>
          <p:nvPr/>
        </p:nvSpPr>
        <p:spPr>
          <a:xfrm>
            <a:off x="539252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53E160-0729-9BA3-0260-559EB5A68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57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0E0EDA-EC05-A838-D14B-E51AC5DAB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003" y="3642906"/>
            <a:ext cx="4236271" cy="9335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43606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15740-8931-9432-5022-9B33126AF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D5AE0-97B2-F5A1-20E0-90D7AF83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9463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Conceptual - 03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1259266-9EFF-EE1C-8089-9467C74B9C7A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009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B322A-9342-D809-4B0E-2F3FDB884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30BCA1-1E2D-0A36-1368-DC023E3A69D5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C6D78-0D28-D6A3-881E-1F1ECDDE8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8B8198-717B-7CEF-FCEB-94DC41F51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5E8671-9294-A003-D073-84418785CF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7B584FF-98AC-3D51-02D1-574C0597C17D}"/>
              </a:ext>
            </a:extLst>
          </p:cNvPr>
          <p:cNvGrpSpPr/>
          <p:nvPr/>
        </p:nvGrpSpPr>
        <p:grpSpPr>
          <a:xfrm>
            <a:off x="8893082" y="2952750"/>
            <a:ext cx="2508343" cy="2367994"/>
            <a:chOff x="8893082" y="2952750"/>
            <a:chExt cx="2508343" cy="236799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388FF68-E6FE-AFFA-E8A8-224461DAF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93082" y="3197407"/>
              <a:ext cx="2398961" cy="212333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8828B8B-88B8-5ACA-864D-1DD8AD2339B0}"/>
                </a:ext>
              </a:extLst>
            </p:cNvPr>
            <p:cNvSpPr/>
            <p:nvPr/>
          </p:nvSpPr>
          <p:spPr>
            <a:xfrm>
              <a:off x="10582275" y="2952750"/>
              <a:ext cx="819150" cy="857250"/>
            </a:xfrm>
            <a:prstGeom prst="rect">
              <a:avLst/>
            </a:prstGeom>
            <a:solidFill>
              <a:srgbClr val="ACD433">
                <a:alpha val="3019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6598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9F61F-31DA-6EA2-B2F5-8C417DD2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CD06-A8B8-8800-3E33-FD63119E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Conceptual - 04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CBDB5A-7994-C17D-5CB0-CB1A44CD59D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010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CB3424-D112-59FC-EFAE-07E8B75E6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981AE7-1C7C-E5F2-E9C8-6147D868CBF1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0FE24D-0609-3170-FC8A-A508CA131146}"/>
              </a:ext>
            </a:extLst>
          </p:cNvPr>
          <p:cNvGrpSpPr/>
          <p:nvPr/>
        </p:nvGrpSpPr>
        <p:grpSpPr>
          <a:xfrm>
            <a:off x="8893082" y="3197407"/>
            <a:ext cx="2398961" cy="2123337"/>
            <a:chOff x="8893082" y="3197407"/>
            <a:chExt cx="2398961" cy="212333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22D5555-678C-5743-DCE7-653A7F1D7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93082" y="3197407"/>
              <a:ext cx="2398961" cy="212333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C305A3B-E771-332E-1234-FE8C5CC9953B}"/>
                </a:ext>
              </a:extLst>
            </p:cNvPr>
            <p:cNvSpPr/>
            <p:nvPr/>
          </p:nvSpPr>
          <p:spPr>
            <a:xfrm>
              <a:off x="9231684" y="3429000"/>
              <a:ext cx="819150" cy="1371600"/>
            </a:xfrm>
            <a:prstGeom prst="rect">
              <a:avLst/>
            </a:prstGeom>
            <a:solidFill>
              <a:srgbClr val="ACD433">
                <a:alpha val="3019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7F9A7B1-0A44-AC5D-5EB9-C2D0584E1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C1A182-85B2-BDED-6384-C08CC1A22C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6BA763-D900-AECC-8457-550C879530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4358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125F0-8EC1-6A13-F64A-5AEB3C2D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2A93-5504-6049-D215-E386C384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Conceptual - 05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403F24-74EA-DF46-BA09-988604F2595D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02C35D-DF93-A92B-2D08-0D1AB6EFC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E23A13-EAE9-5415-6626-3F97BC70A03B}"/>
              </a:ext>
            </a:extLst>
          </p:cNvPr>
          <p:cNvSpPr/>
          <p:nvPr/>
        </p:nvSpPr>
        <p:spPr>
          <a:xfrm>
            <a:off x="596435" y="2188396"/>
            <a:ext cx="3924193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39B2F5-D4BA-164E-C8DD-1FDA7FA0D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081" y="1457202"/>
            <a:ext cx="2400433" cy="46892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9E9156-231F-2A61-C1A5-D9693BD9E930}"/>
              </a:ext>
            </a:extLst>
          </p:cNvPr>
          <p:cNvSpPr/>
          <p:nvPr/>
        </p:nvSpPr>
        <p:spPr>
          <a:xfrm>
            <a:off x="9965933" y="4438436"/>
            <a:ext cx="164386" cy="595901"/>
          </a:xfrm>
          <a:prstGeom prst="roundRect">
            <a:avLst/>
          </a:prstGeom>
          <a:solidFill>
            <a:srgbClr val="E6C133">
              <a:alpha val="3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47497-EE95-A854-082B-5ED091E34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5935FF-6419-72BA-DFDD-6F796D76B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AF068F-C46C-2F10-3B3C-DF2825DB9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325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B59808-A26A-6C11-5620-DDFA99D3D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7E7E31-E680-0DF6-548F-D05029F9D691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26F058-AFC9-DC43-BDA3-904A13D99E17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1E7655-6941-F23C-1924-E03767E9FF1F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C54FEF-8C9A-BBFC-0D84-002D10047F7A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24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B59C3-A4DE-6412-5EB2-960BAAD0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558C-3E7A-0B2D-8E7C-143C80CA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Conceptual - 06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814BE4-3108-4FF6-EEB5-36E033EBAF1F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C58872-12BF-6192-FB02-5943ACCEF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D72E08-612F-05BB-E7EC-D37D30D9AFE9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C999C2-029D-326E-E86C-2BCFB5F77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B82AA0-3739-E689-54E7-31B2DA6EB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A3B4F7-3749-5953-406A-B427A1BEF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E18703-65FF-42DB-0364-3B0BB299D9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4835" y="2774022"/>
            <a:ext cx="4214205" cy="23704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70692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408E-654F-E922-78EE-EB778BE6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AC963D-8D22-5ABF-7C3A-BBC645E6E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69C169-EBC8-1297-9E82-7EA2D8D52B6D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BD0E5F-D5BA-C63C-C6C3-E8F716731F66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3751F-E8F8-1BC0-0125-37FD4451EB20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81FDC1-4CEB-F53B-EEC6-ED3D138226FE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307F77-3178-C40A-2B7D-BC784CA0930E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8AA0BC-72F0-708E-A79E-79161FC2A159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06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AEF3F-5FA3-C22D-93F6-7EC2A74C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6D802-2FA7-87A7-F780-5D1DB341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Conceptual - 07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504B53-13D5-4FCD-0274-0C1531BF03A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614281-3ADF-472D-2931-489A34783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7C01DC-4B1F-E5E6-7F0A-1890A1D4A655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56ADE7-8458-E11A-BC64-E7137E648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3B1AAC-90F0-3B95-B20E-9ADAF5889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004357-1761-1A4F-8DD2-584F94679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D59839-0A82-F3F9-5F5A-B4B3170CF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0683" y="2964557"/>
            <a:ext cx="4544076" cy="19055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25269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E52D-1F4F-37FD-1A10-F861C13C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93A7D5-95FD-4BBD-199D-FE3727FB9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2D5D00-3B75-7685-E3EE-46133C0150C2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EE5344-B642-2EB0-9C8B-5F6F2D746E8C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368065-3FDD-A3B5-C9DE-0E9AA1F4DDAA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B957A5-E7E6-B333-3B23-F21788BF0DC9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8A5120-4933-6C99-06C1-EC6F01996EAE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079828-8EB6-36A7-FC9B-3B3ECE872C2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918369-011C-95DA-5B4B-7458163B83A1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468BC5-3FAA-311F-BB88-25F91429B294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2A32D1-5AAE-F4A1-4339-F328B076E577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88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CA127-570B-7BA0-1142-69C45478C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1959-6755-3E62-8836-4039E43F0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Conceptual - 08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8E7F61-C83B-C0BA-325F-28D94952882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0935C3-923A-FA2F-787B-EB5185C6B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FE3CF1-2A59-267E-4F53-5D6E1E4C5C9A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FD72E4-3457-13FE-5449-5BB102D7F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4E7F12-C48D-E3BE-E5AF-5B9E100F2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AB41F1-C5C4-77DD-577F-8368FB729D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325B68-12FD-DF2E-7782-FFC49E92BC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4980" y="2909135"/>
            <a:ext cx="4120179" cy="21765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4312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9946F-D0E4-0012-EC13-F163C0EA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5515BB-71A7-EE8F-5625-58C06C88C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A229C2-E16D-2F65-73E4-51DC69EB3D56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B70BF-BA09-E69C-73A3-903C5C7BCF6E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B25C13-7E86-C236-5AAC-366CAA2BD50C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EC2ACD-B82A-C42F-AB10-4F4944B58CB2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236571-B2CD-41EA-21DC-A9463E8FD294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6D6F6C-C89F-A0DC-CF3D-FCC13BB76F9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C55E19-83EE-AABA-0868-D3193DFB3B96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B47393-366A-EAF4-1256-B1F26EFCFE79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BA5C61-7665-01A0-A858-7818669FC0B0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AFFBAB-6B52-6F38-4D28-DB79EF7E0A86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BB0361-764B-DFBD-B313-A1E2342F1DE0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0422F-EE46-F48B-FCA8-0C8186ED23CD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99F6D8-F86F-3A81-1AF6-6DD67E3C6F9C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13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96D9C-05A9-A9CA-0D45-6929BA37F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E242-9349-AD5E-88C3-9D65A198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Conceptual - 09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4114FC6-A4C2-0C5C-B3BF-F6A703398EA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CBD2B5-D8D7-A727-D12E-8F3074FB3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2248E4-9922-DE55-57D3-E64B98B14891}"/>
              </a:ext>
            </a:extLst>
          </p:cNvPr>
          <p:cNvSpPr/>
          <p:nvPr/>
        </p:nvSpPr>
        <p:spPr>
          <a:xfrm>
            <a:off x="596436" y="2188396"/>
            <a:ext cx="3975564" cy="158985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D162A1-4BAC-D39C-34E1-254CC366F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E9C6E5-AB88-CF8F-5ECB-475303B79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8FDD88-4432-AC48-777E-3CFD082B8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CC047E-FC1A-5F7D-47FB-A412C3055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0445" y="2688117"/>
            <a:ext cx="4084714" cy="21802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1579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8F48-1C0E-221A-F0D1-4BD337C7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3B4464-C47D-3072-E742-05769886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3C79F7-8319-C40E-9C56-0F3C820BC5C0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6629F1-6A63-864D-4209-626E528D56A2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DD3CFC-2C64-48F0-ABD2-983C849420EC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327F41-04A3-9C8C-7F37-C10C03A0A6E1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271A7-87B1-8A12-A237-9167AAAE8AC8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08268B-ECC0-A4A9-5EAA-72AE0DD32001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C59CEF-3147-9742-B251-A9AFA9CDB26C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D32CA4-10C9-09C5-30FC-FC3770E9F050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A2C931-D144-2AFB-D3D8-8CA966618C61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5946B3-3BE4-23FB-E348-F0EEB3F6947B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CF0E65-068A-674F-096D-CF87EC246C1C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92A37C-53AE-938D-201B-CD7FEAE74869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3CE59B-5947-B186-86C4-2CD3B525AF99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5B081E-4763-98C8-324F-E030C1875920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37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C054F-9A96-2FFD-11A7-277C59F2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A8AFD-C5F3-5BFF-7D4F-FA2D2DE08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Conceptual - 10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8D5E3A-D93F-CB53-47E8-0F229E9FE496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05571A-32EA-7A11-9C67-83A03E979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B3C632-1540-FA39-E1D6-7730B9120BB0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84AA08-8B0B-09E4-3A7C-88AF0D9C5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30C57D-4D30-71B2-4D54-9BAD21FAF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2B3C7E-EE5F-A19E-7142-505CE4048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7ACAD9-2965-581E-5CB0-EDD064349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7989" y="2089556"/>
            <a:ext cx="3046248" cy="38078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96391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3E6D-F90F-463C-7114-2BDE175B1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74F856-3F27-06DC-08F7-B4E952611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112E2E-15CD-8309-E120-8CC3F3587FD2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249C8A-7ACD-0B8D-1473-C707EB5133AB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79521F-172E-2360-4969-6D61B2BC10E0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AF1A1C-0BAA-1890-DECA-5AF31191D8B4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F3B6A3-7279-CDAC-2B38-A91991923151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34AE03-89AD-C2DC-1E2D-1F647EDFBF3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0BC1FD-B22D-72EE-E568-F4182B66A89C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C720FF-4460-437F-4DDE-A6C07EE7CEDB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E1049D-6480-B0A9-8BC7-26D3DD37C4CA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439A75-3191-A9BD-E891-8975C12CD433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C9306C-0518-C7AC-8A2B-490647910575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F6A244-0290-9330-E70C-069A87071BB0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750005-EAD0-CA7B-2A77-4608E0362E25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6D2C9A-E95F-8A2B-252E-407E27E654CE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6D46EE-5BFC-14D0-F88F-72A3133ADF8A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48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5F501-2698-E802-E21E-DF1FC7A6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F562-0912-4AA2-2AC7-95B9EC33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Conceptual - 11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D3F0AF-28B6-0D01-E6CE-CD4369C20C3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365840-0192-6E37-6541-91B24686A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6057D6-3363-33B8-69F3-4C006147ED33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8C2ED1-AC4F-B996-5691-C807CF249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406E1A-8CA6-EACD-72C9-5E7ECE07C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121E25-449A-511E-419D-9C638D38D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7B7C76-8639-D3F3-AC67-8D61A7A74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147" y="2426324"/>
            <a:ext cx="3983743" cy="28237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6200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336E726C-3DE4-41AA-88A0-C92B0C341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dirty="0"/>
              <a:t>someone@Example.com</a:t>
            </a:r>
            <a:endParaRPr lang="ru-RU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1F562-7C5B-B39E-2FF0-681E86D50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>
  <clbl:label id="{19540963-e559-4020-8a90-fe8a502c2801}" enabled="1" method="Standard" siteId="{f25493ae-1c98-41d7-8a33-0be75f5fe6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3996</TotalTime>
  <Words>269</Words>
  <Application>Microsoft Office PowerPoint</Application>
  <PresentationFormat>Widescreen</PresentationFormat>
  <Paragraphs>50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Century Gothic</vt:lpstr>
      <vt:lpstr>Wingdings 3</vt:lpstr>
      <vt:lpstr>Ion</vt:lpstr>
      <vt:lpstr>Master EAS Meta-Model in Ontology &amp; Graph Perspective</vt:lpstr>
      <vt:lpstr>What is Metamodel?</vt:lpstr>
      <vt:lpstr>Understanding EAS Metamodel</vt:lpstr>
      <vt:lpstr>Metamodel in Reference EA Frameworks</vt:lpstr>
      <vt:lpstr>Setup Modeling Environment - Essential Open Source EA Tool</vt:lpstr>
      <vt:lpstr>Setup Modeling Environment - Protégé &amp; Neo4j</vt:lpstr>
      <vt:lpstr>Essential EA Meta-Model - Business Conceptual - 01 </vt:lpstr>
      <vt:lpstr>Essential EA Meta-Model - Business Conceptual - 02 </vt:lpstr>
      <vt:lpstr>Essential EA Meta-Model - Business Conceptual - 03 </vt:lpstr>
      <vt:lpstr>Essential EA Meta-Model - Business Conceptual - 04 </vt:lpstr>
      <vt:lpstr>Essential EA Meta-Model - Business Conceptual - 05 </vt:lpstr>
      <vt:lpstr>PowerPoint Presentation</vt:lpstr>
      <vt:lpstr>Essential EA Meta-Model - Business Conceptual - 06 </vt:lpstr>
      <vt:lpstr>PowerPoint Presentation</vt:lpstr>
      <vt:lpstr>Essential EA Meta-Model - Business Conceptual - 07 </vt:lpstr>
      <vt:lpstr>PowerPoint Presentation</vt:lpstr>
      <vt:lpstr>Essential EA Meta-Model - Business Conceptual - 08 </vt:lpstr>
      <vt:lpstr>PowerPoint Presentation</vt:lpstr>
      <vt:lpstr>Essential EA Meta-Model - Business Conceptual - 09 </vt:lpstr>
      <vt:lpstr>PowerPoint Presentation</vt:lpstr>
      <vt:lpstr>Essential EA Meta-Model - Business Conceptual - 10 </vt:lpstr>
      <vt:lpstr>PowerPoint Presentation</vt:lpstr>
      <vt:lpstr>Essential EA Meta-Model - Business Conceptual - 11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31</cp:revision>
  <dcterms:created xsi:type="dcterms:W3CDTF">2026-03-17T00:40:27Z</dcterms:created>
  <dcterms:modified xsi:type="dcterms:W3CDTF">2026-03-22T14:08:43Z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